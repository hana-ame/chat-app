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37160" cy="14630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Chat App 开发纪实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DD"/>
                </a:solidFill>
                <a:latin typeface="Calibri"/>
              </a:defRPr>
            </a:pPr>
            <a:r>
              <a:t>7 天从零到生产级全栈聊天应用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Go + chi + SQLite  |  React + Vite + Zustand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30 轮迭代 · 318 次提交 · 80+ Bug 修复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2026-07-10 →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30 轮迭代时间线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FF"/>
                </a:solidFill>
                <a:latin typeface="Calibri"/>
              </a:defRPr>
            </a:pPr>
            <a:r>
              <a:t>4 个阶段横跨 7 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9728" cy="7315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65F2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2E"/>
                </a:solidFill>
                <a:latin typeface="Calibri"/>
              </a:defRPr>
            </a:pPr>
            <a:r>
              <a:t>Mock 驱动前端迭代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Day 1 · 第 1-9 轮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9728" cy="731520"/>
          </a:xfrm>
          <a:prstGeom prst="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A03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2E"/>
                </a:solidFill>
                <a:latin typeface="Calibri"/>
              </a:defRPr>
            </a:pPr>
            <a:r>
              <a:t>真实后端对接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Day 2 · 第 10-16 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06240"/>
            <a:ext cx="109728" cy="731520"/>
          </a:xfrm>
          <a:prstGeom prst="rect">
            <a:avLst/>
          </a:prstGeom>
          <a:solidFill>
            <a:srgbClr val="23A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A559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2E"/>
                </a:solidFill>
                <a:latin typeface="Calibri"/>
              </a:defRPr>
            </a:pPr>
            <a:r>
              <a:t>架构重构铺路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Day 3-4 · 第 11-20 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03519"/>
            <a:ext cx="109728" cy="731520"/>
          </a:xfrm>
          <a:prstGeom prst="rect">
            <a:avLst/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035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6060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303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2E"/>
                </a:solidFill>
                <a:latin typeface="Calibri"/>
              </a:defRPr>
            </a:pPr>
            <a:r>
              <a:t>测试 + 上锁收尾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303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Day 5-7 · 第 21-30 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策略: 先 Mock 后端 → 快速验证前端 → 再对接真实后端 → 最后重构上锁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策略: 先飞起来 — MITM Mock 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FF"/>
                </a:solidFill>
                <a:latin typeface="Calibri"/>
              </a:defRPr>
            </a:pPr>
            <a:r>
              <a:t>前端开发不受后端阻塞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65F2"/>
                </a:solidFill>
                <a:latin typeface="Calibri"/>
              </a:defRPr>
            </a:pPr>
            <a:r>
              <a:t>问题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前端需等后端就绪才能开发 — 并行阻塞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1E1E2E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5865F2"/>
                </a:solidFill>
                <a:latin typeface="Calibri"/>
              </a:defRPr>
            </a:pPr>
            <a:r>
              <a:t>方案: MITM 模式 Mock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拦截 API 调用，模拟完整数据层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前 9 轮全部在前端完成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3 小时修复 11 个 Bug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统一数据层: ensureData()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1E1E2E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F0A030"/>
                </a:solidFill>
                <a:latin typeface="Calibri"/>
              </a:defRPr>
            </a:pPr>
            <a:r>
              <a:t>经典案例 — AI 消息消失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消息写入 → 即时 onMessageCreate → 可见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AI 回复: store 流式逐字 + 数据层持久化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轮询从数据层读 → AI 消息不丢失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34747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BB2BF"/>
                </a:solidFill>
                <a:latin typeface="Calibri"/>
              </a:defRPr>
            </a:pPr>
            <a:r>
              <a:t>// MITM Mock 核心: 消息双轨写入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ABB2BF"/>
                </a:solidFill>
                <a:latin typeface="Calibri"/>
              </a:defRPr>
            </a:pPr>
            <a:r>
              <a:t>d.messages.push(userMsg);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ABB2BF"/>
                </a:solidFill>
                <a:latin typeface="Calibri"/>
              </a:defRPr>
            </a:pPr>
            <a:r>
              <a:t>store.onMessageCreate(userMsg);    // → 即时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ABB2BF"/>
                </a:solidFill>
                <a:latin typeface="Calibri"/>
              </a:defRPr>
            </a:pPr>
          </a:p>
          <a:p>
            <a:pPr algn="l">
              <a:spcBef>
                <a:spcPts val="100"/>
              </a:spcBef>
              <a:defRPr sz="1100" b="0">
                <a:solidFill>
                  <a:srgbClr val="ABB2BF"/>
                </a:solidFill>
                <a:latin typeface="Calibri"/>
              </a:defRPr>
            </a:pPr>
            <a:r>
              <a:t>// AI 消息: 流式逐字 + 数据持久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ABB2BF"/>
                </a:solidFill>
                <a:latin typeface="Calibri"/>
              </a:defRPr>
            </a:pPr>
            <a:r>
              <a:t>const aiMsg = {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ABB2BF"/>
                </a:solidFill>
                <a:latin typeface="Calibri"/>
              </a:defRPr>
            </a:pPr>
            <a:r>
              <a:t>  content: '', streaming: true,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ABB2BF"/>
                </a:solidFill>
                <a:latin typeface="Calibri"/>
              </a:defRPr>
            </a:pPr>
            <a:r>
              <a:t>  source: async (emit) =&gt; {         // 逐字 emit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ABB2BF"/>
                </a:solidFill>
                <a:latin typeface="Calibri"/>
              </a:defRPr>
            </a:pPr>
            <a:r>
              <a:t>    for (let i = 0; i &lt; text.length; i++) {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ABB2BF"/>
                </a:solidFill>
                <a:latin typeface="Calibri"/>
              </a:defRPr>
            </a:pPr>
            <a:r>
              <a:t>      emit(text[i]);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ABB2BF"/>
                </a:solidFill>
                <a:latin typeface="Calibri"/>
              </a:defRPr>
            </a:pPr>
            <a:r>
              <a:t>      d.messages.find(m=&gt;m.id===aiId).content = acc;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ABB2BF"/>
                </a:solidFill>
                <a:latin typeface="Calibri"/>
              </a:defRPr>
            </a:pPr>
            <a:r>
              <a:t>    }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ABB2BF"/>
                </a:solidFill>
                <a:latin typeface="Calibri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ABB2BF"/>
                </a:solidFill>
                <a:latin typeface="Calibri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前 9 轮 Mock 交付了什么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FF"/>
                </a:solidFill>
                <a:latin typeface="Calibri"/>
              </a:defRPr>
            </a:pPr>
            <a:r>
              <a:t>速度的代价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3A559"/>
                </a:solidFill>
                <a:latin typeface="Calibri"/>
              </a:defRPr>
            </a:pPr>
            <a:r>
              <a:t>✅ 交付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消息流式发送 + AI Bot 逐字回复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附件上传 / Reaction / 搜索 / 排序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7 个 UI 组件、自动滚动、输入框伸缩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红点未读 / Pinned / 头像上传 /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A030"/>
                </a:solidFill>
                <a:latin typeface="Calibri"/>
              </a:defRPr>
            </a:pPr>
            <a:r>
              <a:t>⚠ 代价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Mock 多用户支持拖到第 7 轮才修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排序 comparator: undefined vs false 的 !! 陷阱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Hover 菜单改 4 次才定案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Pinned API 改名全量重做（6 文档）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A030"/>
                </a:solidFill>
                <a:latin typeface="Calibri"/>
              </a:defRPr>
            </a:pPr>
            <a:r>
              <a:t>核心教训: API 契约文档应在第一天写好，Mock 应与后端数据形状一致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撞墙: 真实后端对接全线崩溃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FF"/>
                </a:solidFill>
                <a:latin typeface="Calibri"/>
              </a:defRPr>
            </a:pPr>
            <a:r>
              <a:t>16 项 API 差异、字段名不一致、404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73152" cy="5486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65F2"/>
                </a:solidFill>
                <a:latin typeface="Calibri"/>
              </a:defRPr>
            </a:pPr>
            <a:r>
              <a:t>member_count=0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2E"/>
                </a:solidFill>
                <a:latin typeface="Calibri"/>
              </a:defRPr>
            </a:pPr>
            <a:r>
              <a:t>字段名不一致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群组大小显示异常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73152" cy="5486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65F2"/>
                </a:solidFill>
                <a:latin typeface="Calibri"/>
              </a:defRPr>
            </a:pPr>
            <a:r>
              <a:t>chat.members 为空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2E"/>
                </a:solidFill>
                <a:latin typeface="Calibri"/>
              </a:defRPr>
            </a:pPr>
            <a:r>
              <a:t>数据结构不匹配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成员列表白屏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73152" cy="5486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65F2"/>
                </a:solidFill>
                <a:latin typeface="Calibri"/>
              </a:defRPr>
            </a:pPr>
            <a:r>
              <a:t>Leave 变成 Delete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2E"/>
                </a:solidFill>
                <a:latin typeface="Calibri"/>
              </a:defRPr>
            </a:pPr>
            <a:r>
              <a:t>API 路径混淆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用户解散了群组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73152" cy="5486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65F2"/>
                </a:solidFill>
                <a:latin typeface="Calibri"/>
              </a:defRPr>
            </a:pPr>
            <a:r>
              <a:t>头像不显示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2E"/>
                </a:solidFill>
                <a:latin typeface="Calibri"/>
              </a:defRPr>
            </a:pPr>
            <a:r>
              <a:t>URL 格式不同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用户信息不完整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03520"/>
            <a:ext cx="73152" cy="5486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65F2"/>
                </a:solidFill>
                <a:latin typeface="Calibri"/>
              </a:defRPr>
            </a:pPr>
            <a:r>
              <a:t>搜索无结果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2E"/>
                </a:solidFill>
                <a:latin typeface="Calibri"/>
              </a:defRPr>
            </a:pPr>
            <a:r>
              <a:t>参数名不对齐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功能完全失效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A030"/>
                </a:solidFill>
                <a:latin typeface="Calibri"/>
              </a:defRPr>
            </a:pPr>
            <a:r>
              <a:t>根因: Mock 与 Go 后端的数据形状不一致 — 先快后稳的代价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架构摇摆中学习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FF"/>
                </a:solidFill>
                <a:latin typeface="Calibri"/>
              </a:defRPr>
            </a:pPr>
            <a:r>
              <a:t>Members 存储 3 次尝试 · Reaction 从建到拆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65F2"/>
                </a:solidFill>
                <a:latin typeface="Calibri"/>
              </a:defRPr>
            </a:pPr>
            <a:r>
              <a:t>Members 存储方案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06060"/>
                </a:solidFill>
                <a:latin typeface="Calibri"/>
              </a:defRPr>
            </a:pPr>
            <a:r>
              <a:t>❌ Store map membersByChatId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 → 轮询覆盖，弃用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3A559"/>
                </a:solidFill>
                <a:latin typeface="Calibri"/>
              </a:defRPr>
            </a:pPr>
            <a:r>
              <a:t>✅ 组件 useEffect + 本地 state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 → 轮询已含完整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65F2"/>
                </a:solidFill>
                <a:latin typeface="Calibri"/>
              </a:defRPr>
            </a:pPr>
            <a:r>
              <a:t>Reaction me 字段三幕剧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Act 1: Handler enrichReactions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N+1 解析 + WS 广播无效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Act 2: 专用 GET /:id/reactions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客户端自行查询 me 状态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3A559"/>
                </a:solidFill>
                <a:latin typeface="Calibri"/>
              </a:defRPr>
            </a:pPr>
            <a:r>
              <a:t>Act 3: Store onReaction 计算 me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WS 广播不含 me，客户端按 viewer 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A030"/>
                </a:solidFill>
                <a:latin typeface="Calibri"/>
              </a:defRPr>
            </a:pPr>
            <a:r>
              <a:t>教训: 架构决策前应先验证「轮询怎么合并」、「广播给谁用」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问题: Handler 直连 DB 的重复劳动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FF"/>
                </a:solidFill>
                <a:latin typeface="Calibri"/>
              </a:defRPr>
            </a:pPr>
            <a:r>
              <a:t>每加一个 API 就要复制一遍权限检查 + 广播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303520" cy="16459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6060"/>
                </a:solidFill>
                <a:latin typeface="Calibri"/>
              </a:defRPr>
            </a:pPr>
            <a:r>
              <a:t>// 之前: Handler 直调 s.DB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ABB2BF"/>
                </a:solidFill>
                <a:latin typeface="Calibri"/>
              </a:defRPr>
            </a:pPr>
            <a:r>
              <a:t>func (h *Handler) Foo(w, r) {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ABB2BF"/>
                </a:solidFill>
                <a:latin typeface="Calibri"/>
              </a:defRPr>
            </a:pPr>
            <a:r>
              <a:t>  // 权限检查重复 · Hub 广播重复 · 验证重复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ABB2BF"/>
                </a:solidFill>
                <a:latin typeface="Calibri"/>
              </a:defRPr>
            </a:pPr>
            <a:r>
              <a:t>  h.DB.DoSomething(...)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ABB2BF"/>
                </a:solidFill>
                <a:latin typeface="Calibri"/>
              </a:defRPr>
            </a:pPr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40480"/>
            <a:ext cx="5303520" cy="237744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A559"/>
                </a:solidFill>
                <a:latin typeface="Calibri"/>
              </a:defRPr>
            </a:pPr>
            <a:r>
              <a:t>// 之后: Handler → Service → DB (+Hub)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ABB2BF"/>
                </a:solidFill>
                <a:latin typeface="Calibri"/>
              </a:defRPr>
            </a:pPr>
            <a:r>
              <a:t>func (s *ChatService) DoSomething(ctx, chatID, userID) {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ABB2BF"/>
                </a:solidFill>
                <a:latin typeface="Calibri"/>
              </a:defRPr>
            </a:pPr>
            <a:r>
              <a:t>  s.MustBeMember(ctx, chatID, userID)    // AuthZ 统一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ABB2BF"/>
                </a:solidFill>
                <a:latin typeface="Calibri"/>
              </a:defRPr>
            </a:pPr>
            <a:r>
              <a:t>  result := s.DB.DoSomething(...)          // DB 操作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ABB2BF"/>
                </a:solidFill>
                <a:latin typeface="Calibri"/>
              </a:defRPr>
            </a:pPr>
            <a:r>
              <a:t>  s.Hub.Broadcast(chatID, event)          // 广播统一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ABB2BF"/>
                </a:solidFill>
                <a:latin typeface="Calibri"/>
              </a:defRPr>
            </a:pPr>
            <a:r>
              <a:t>  return result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200" b="0">
                <a:solidFill>
                  <a:srgbClr val="ABB2BF"/>
                </a:solidFill>
                <a:latin typeface="Calibri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865F2"/>
                </a:solidFill>
                <a:latin typeface="Calibri"/>
              </a:defRPr>
            </a:pPr>
            <a:r>
              <a:t>架构变化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1E1E2E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06060"/>
                </a:solidFill>
                <a:latin typeface="Calibri"/>
              </a:defRPr>
            </a:pPr>
            <a:r>
              <a:t>  之前:  Handler → DB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1E1E2E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3A559"/>
                </a:solidFill>
                <a:latin typeface="Calibri"/>
              </a:defRPr>
            </a:pPr>
            <a:r>
              <a:t>  之后:  Handler → Service → DB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                          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5865F2"/>
                </a:solidFill>
                <a:latin typeface="Calibri"/>
              </a:defRPr>
            </a:pPr>
            <a:r>
              <a:t>                      Hub 广播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029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2E"/>
                </a:solidFill>
                <a:latin typeface="Calibri"/>
              </a:defRPr>
            </a:pPr>
            <a:r>
              <a:t>6 个新服务文件: authz, chat, message, member, reaction, errors</a:t>
            </a:r>
            <a:br/>
            <a:r>
              <a:t>Handler 代码量减半（chat.go -179/+86, messages.go -199/+88）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Service 层 4 个关键设计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FF"/>
                </a:solidFill>
                <a:latin typeface="Calibri"/>
              </a:defRPr>
            </a:pPr>
            <a:r>
              <a:t>清晰的分层边界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73152" cy="9144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65F2"/>
                </a:solidFill>
                <a:latin typeface="Calibri"/>
              </a:defRPr>
            </a:pPr>
            <a:r>
              <a:t>Sentinel 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mapServiceError 消除 HTTP 硬编码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8046720" cy="9144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74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2E"/>
                </a:solidFill>
                <a:latin typeface="Calibri"/>
              </a:defRPr>
            </a:pPr>
            <a:r>
              <a:t>service.ErrForbidden → 403</a:t>
            </a:r>
            <a:br/>
            <a:r>
              <a:t>service.ErrNotFound → 404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73152" cy="9144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65F2"/>
                </a:solidFill>
                <a:latin typeface="Calibri"/>
              </a:defRPr>
            </a:pPr>
            <a:r>
              <a:t>AuthZ 解耦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MustBeMember 被 4 个 Service 共用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017520"/>
            <a:ext cx="8046720" cy="9144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0632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2E"/>
                </a:solidFill>
                <a:latin typeface="Calibri"/>
              </a:defRPr>
            </a:pPr>
            <a:r>
              <a:t>Chat / Message / Member / Reaction</a:t>
            </a:r>
            <a:br/>
            <a:r>
              <a:t>统一在 authz.go 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73152" cy="9144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65F2"/>
                </a:solidFill>
                <a:latin typeface="Calibri"/>
              </a:defRPr>
            </a:pPr>
            <a:r>
              <a:t>广播集中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Service 层内调 Hub，handler 不复用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4206240"/>
            <a:ext cx="8046720" cy="9144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42519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2E"/>
                </a:solidFill>
                <a:latin typeface="Calibri"/>
              </a:defRPr>
            </a:pPr>
            <a:r>
              <a:t>AddReaction/RemoveReaction 都走</a:t>
            </a:r>
            <a:br/>
            <a:r>
              <a:t>s.Hub.BroadcastBroadcast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94960"/>
            <a:ext cx="73152" cy="9144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65F2"/>
                </a:solidFill>
                <a:latin typeface="Calibri"/>
              </a:defRPr>
            </a:pPr>
            <a:r>
              <a:t>WithTx 占位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15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预备跨表事务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5394960"/>
            <a:ext cx="8046720" cy="91440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544068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2E"/>
                </a:solidFill>
                <a:latin typeface="Calibri"/>
              </a:defRPr>
            </a:pPr>
            <a:r>
              <a:t>当前透传 DB，未来直接</a:t>
            </a:r>
            <a:br/>
            <a:r>
              <a:t>插入事务逻辑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实时连接重构: RealtimeCoordinator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FF"/>
                </a:solidFill>
                <a:latin typeface="Calibri"/>
              </a:defRPr>
            </a:pPr>
            <a:r>
              <a:t>混乱的 connectWS/SSE/Polling → 状态机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6060"/>
                </a:solidFill>
                <a:latin typeface="Calibri"/>
              </a:defRPr>
            </a:pPr>
            <a:r>
              <a:t>之前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Store 中 4 个 connect/disconnect 方法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无状态管理 → 双通道、重连逻辑混乱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A559"/>
                </a:solidFill>
                <a:latin typeface="Calibri"/>
              </a:defRPr>
            </a:pPr>
            <a:r>
              <a:t>之后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RealtimeCoordinator 状态机 singleton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IDLE↔CONNECTING↔CONNECTED↔DISCONNECTING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2377440" cy="640080"/>
          </a:xfrm>
          <a:prstGeom prst="round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1E1E2E"/>
                </a:solidFill>
                <a:latin typeface="Calibri"/>
              </a:defRPr>
            </a:pPr>
            <a:r>
              <a:t>IDLE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840480"/>
            <a:ext cx="2377440" cy="640080"/>
          </a:xfrm>
          <a:prstGeom prst="round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1E1E2E"/>
                </a:solidFill>
                <a:latin typeface="Calibri"/>
              </a:defRPr>
            </a:pPr>
            <a:r>
              <a:t>CONNECTING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840480"/>
            <a:ext cx="2377440" cy="640080"/>
          </a:xfrm>
          <a:prstGeom prst="round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CONNECTED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3840480"/>
            <a:ext cx="2377440" cy="640080"/>
          </a:xfrm>
          <a:prstGeom prst="round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1E1E2E"/>
                </a:solidFill>
                <a:latin typeface="Calibri"/>
              </a:defRPr>
            </a:pPr>
            <a:r>
              <a:t>DISCONNECTING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状态守卫锁防双通道 | _closeGuard 阻止重连 | transport onClose → 3s 后重连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2E"/>
                </a:solidFill>
                <a:latin typeface="Calibri"/>
              </a:defRPr>
            </a:pPr>
            <a:r>
              <a:t>同步: Mock 解耦 — MOCKABLE[] → Proxy(realApi, { get }) | 消除循环依赖 | 删除 dev/mock-ws.js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从 0 到 92.6% 测试覆盖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FF"/>
                </a:solidFill>
                <a:latin typeface="Calibri"/>
              </a:defRPr>
            </a:pPr>
            <a:r>
              <a:t>前 23 轮零测试 → 第 24-30 轮系统化覆盖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E"/>
                </a:solidFill>
                <a:latin typeface="Calibri"/>
              </a:defRPr>
            </a:pPr>
            <a:r>
              <a:t>轮次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39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E"/>
                </a:solidFill>
                <a:latin typeface="Calibri"/>
              </a:defRPr>
            </a:pPr>
            <a:r>
              <a:t>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59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E"/>
                </a:solidFill>
                <a:latin typeface="Calibri"/>
              </a:defRPr>
            </a:pPr>
            <a:r>
              <a:t>覆盖率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E"/>
                </a:solidFill>
                <a:latin typeface="Calibri"/>
              </a:defRPr>
            </a:pPr>
            <a: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config, service, 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起步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核心路径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handler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~60%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核心 handler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service 错误路径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取消上下文等边界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config / service /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100% / 92.6% / 81.6%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  <a:latin typeface="Calibri"/>
              </a:defRPr>
            </a:pPr>
            <a:r>
              <a:t>错误路径全覆盖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65F2"/>
                </a:solidFill>
                <a:latin typeface="Calibri"/>
              </a:defRPr>
            </a:pPr>
            <a:r>
              <a:t>DB 包拆分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chats.go → 5 文件: chats / messages / members / reactions / refresh_tokens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0A030"/>
                </a:solidFill>
                <a:latin typeface="Calibri"/>
              </a:defRPr>
            </a:pPr>
            <a:r>
              <a:t>Migration 陷阱: V001 ASCII V(86) &lt; i(105) → 在 init.sql 前执行 → 改名 000__init.sql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交付了什么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FF"/>
                </a:solidFill>
                <a:latin typeface="Calibri"/>
              </a:defRPr>
            </a:pPr>
            <a:r>
              <a:t>功能矩阵 + 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00400" cy="64008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2E"/>
                </a:solidFill>
                <a:latin typeface="Calibri"/>
              </a:defRPr>
            </a:pPr>
            <a:r>
              <a:t>✅ 实时消息 + AI 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200400" cy="64008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2E"/>
                </a:solidFill>
                <a:latin typeface="Calibri"/>
              </a:defRPr>
            </a:pPr>
            <a:r>
              <a:t>✅ 群组管理 + 角色权限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011680"/>
            <a:ext cx="3200400" cy="64008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2E"/>
                </a:solidFill>
                <a:latin typeface="Calibri"/>
              </a:defRPr>
            </a:pPr>
            <a:r>
              <a:t>✅ Reaction + 附件上传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3200400" cy="64008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2E"/>
                </a:solidFill>
                <a:latin typeface="Calibri"/>
              </a:defRPr>
            </a:pPr>
            <a:r>
              <a:t>✅ 搜索 + 公告 Pinned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926080"/>
            <a:ext cx="3200400" cy="64008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2E"/>
                </a:solidFill>
                <a:latin typeface="Calibri"/>
              </a:defRPr>
            </a:pPr>
            <a:r>
              <a:t>✅ 注册/登录 + JWT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926080"/>
            <a:ext cx="3200400" cy="64008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2E"/>
                </a:solidFill>
                <a:latin typeface="Calibri"/>
              </a:defRPr>
            </a:pPr>
            <a:r>
              <a:t>✅ 速率限制 + CSP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65F2"/>
                </a:solidFill>
                <a:latin typeface="Calibri"/>
              </a:defRPr>
            </a:pPr>
            <a:r>
              <a:t>7 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开发周期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65F2"/>
                </a:solidFill>
                <a:latin typeface="Calibri"/>
              </a:defRPr>
            </a:pPr>
            <a:r>
              <a:t>30 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迭代轮次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65F2"/>
                </a:solidFill>
                <a:latin typeface="Calibri"/>
              </a:defRPr>
            </a:pPr>
            <a:r>
              <a:t>318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Git 提交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9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65F2"/>
                </a:solidFill>
                <a:latin typeface="Calibri"/>
              </a:defRPr>
            </a:pPr>
            <a:r>
              <a:t>~80+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修复 Bug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65F2"/>
                </a:solidFill>
                <a:latin typeface="Calibri"/>
              </a:defRPr>
            </a:pPr>
            <a:r>
              <a:t>92.6%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测试覆盖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前端 Bundle: 316 KB | 后端测试包: 14 | Go 后端 ~5000 行 + React 前端 ~3500 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经验与反思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FF"/>
                </a:solidFill>
                <a:latin typeface="Calibri"/>
              </a:defRPr>
            </a:pPr>
            <a:r>
              <a:t>做得好的 · 可以更好的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3A559"/>
                </a:solidFill>
                <a:latin typeface="Calibri"/>
              </a:defRPr>
            </a:pPr>
            <a:r>
              <a:t>✅ 做得好的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Mock 先行 → 前端迭代不受后端阻塞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Service 层提取 → handler 职责单一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测试覆盖 0→92.6% → 重构的安全垫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MITM Mock → 解决轮询覆盖根本问题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A030"/>
                </a:solidFill>
                <a:latin typeface="Calibri"/>
              </a:defRPr>
            </a:pPr>
            <a:r>
              <a:t>🔧 可以更好的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API 契约应在第 1 天对齐，而不是第 2 天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Store 方案决策前应验证轮询怎么合并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做了又改的 30% 工作可借设计文档避免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1E1E2E"/>
                </a:solidFill>
                <a:latin typeface="Calibri"/>
              </a:defRPr>
            </a:pPr>
            <a:r>
              <a:t>• Mock 多用户支持是 Day 1 就该做的事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09728" cy="13716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 天完整生命周期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BBBDD"/>
                </a:solidFill>
                <a:latin typeface="Calibri"/>
              </a:defRPr>
            </a:pPr>
            <a:r>
              <a:t>原型 ── 撞墙 ── 重构 ── 上锁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57600"/>
            <a:ext cx="73152" cy="4572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65F2"/>
                </a:solidFill>
                <a:latin typeface="Calibri"/>
              </a:defRPr>
            </a:pPr>
            <a:r>
              <a:t>原型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快速验证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97680"/>
            <a:ext cx="73152" cy="457200"/>
          </a:xfrm>
          <a:prstGeom prst="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A030"/>
                </a:solidFill>
                <a:latin typeface="Calibri"/>
              </a:defRPr>
            </a:pPr>
            <a:r>
              <a:t>撞墙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暴露问题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37760"/>
            <a:ext cx="73152" cy="457200"/>
          </a:xfrm>
          <a:prstGeom prst="rect">
            <a:avLst/>
          </a:prstGeom>
          <a:solidFill>
            <a:srgbClr val="23A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A559"/>
                </a:solidFill>
                <a:latin typeface="Calibri"/>
              </a:defRPr>
            </a:pPr>
            <a:r>
              <a:t>重构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夯实架构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577840"/>
            <a:ext cx="73152" cy="457200"/>
          </a:xfrm>
          <a:prstGeom prst="rect">
            <a:avLst/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6060"/>
                </a:solidFill>
                <a:latin typeface="Calibri"/>
              </a:defRPr>
            </a:pPr>
            <a:r>
              <a:t>上锁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守住质量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"先跑通，再重构，最后上锁 — 但别等到第 7 天才开始写测试。"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